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3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3" r:id="rId16"/>
    <p:sldId id="284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721C-A806-4E32-BE7D-681CD1A1BC86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A3855-D164-4EB2-AB2D-546719D5FE6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721C-A806-4E32-BE7D-681CD1A1BC86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A3855-D164-4EB2-AB2D-546719D5FE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721C-A806-4E32-BE7D-681CD1A1BC86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A3855-D164-4EB2-AB2D-546719D5FE6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721C-A806-4E32-BE7D-681CD1A1BC86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A3855-D164-4EB2-AB2D-546719D5FE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721C-A806-4E32-BE7D-681CD1A1BC86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A3855-D164-4EB2-AB2D-546719D5FE6B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721C-A806-4E32-BE7D-681CD1A1BC86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A3855-D164-4EB2-AB2D-546719D5FE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721C-A806-4E32-BE7D-681CD1A1BC86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A3855-D164-4EB2-AB2D-546719D5FE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721C-A806-4E32-BE7D-681CD1A1BC86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A3855-D164-4EB2-AB2D-546719D5FE6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721C-A806-4E32-BE7D-681CD1A1BC86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A3855-D164-4EB2-AB2D-546719D5FE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721C-A806-4E32-BE7D-681CD1A1BC86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A3855-D164-4EB2-AB2D-546719D5FE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721C-A806-4E32-BE7D-681CD1A1BC86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A3855-D164-4EB2-AB2D-546719D5FE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8494721C-A806-4E32-BE7D-681CD1A1BC86}" type="datetimeFigureOut">
              <a:rPr lang="en-US" smtClean="0"/>
              <a:t>4/23/2022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910A3855-D164-4EB2-AB2D-546719D5FE6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-152400"/>
            <a:ext cx="7543801" cy="3048000"/>
          </a:xfrm>
        </p:spPr>
        <p:txBody>
          <a:bodyPr>
            <a:noAutofit/>
          </a:bodyPr>
          <a:lstStyle/>
          <a:p>
            <a:pPr algn="ctr"/>
            <a:r>
              <a:rPr lang="en-US" sz="5400" dirty="0" smtClean="0">
                <a:solidFill>
                  <a:schemeClr val="bg1">
                    <a:lumMod val="95000"/>
                  </a:schemeClr>
                </a:solidFill>
              </a:rPr>
              <a:t>Adult Income Analysis and Model</a:t>
            </a:r>
            <a:endParaRPr lang="en-US" sz="5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19600" y="3505200"/>
            <a:ext cx="4267200" cy="2590800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GROUP</a:t>
            </a:r>
          </a:p>
        </p:txBody>
      </p:sp>
    </p:spTree>
    <p:extLst>
      <p:ext uri="{BB962C8B-B14F-4D97-AF65-F5344CB8AC3E}">
        <p14:creationId xmlns:p14="http://schemas.microsoft.com/office/powerpoint/2010/main" val="2087404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800"/>
            <a:ext cx="5257800" cy="4572000"/>
          </a:xfrm>
        </p:spPr>
        <p:txBody>
          <a:bodyPr>
            <a:normAutofit/>
          </a:bodyPr>
          <a:lstStyle/>
          <a:p>
            <a:r>
              <a:rPr lang="en-US" dirty="0" smtClean="0"/>
              <a:t>Analyze adult income data to understand </a:t>
            </a:r>
            <a:r>
              <a:rPr lang="en-US" dirty="0" smtClean="0"/>
              <a:t>what factors </a:t>
            </a:r>
            <a:r>
              <a:rPr lang="en-US" dirty="0" smtClean="0"/>
              <a:t>affect income and how</a:t>
            </a:r>
            <a:r>
              <a:rPr lang="en-US" dirty="0" smtClean="0"/>
              <a:t>.</a:t>
            </a:r>
          </a:p>
          <a:p>
            <a:r>
              <a:rPr lang="en-US" dirty="0" smtClean="0"/>
              <a:t>Check whether feature engineering could improve model performance.</a:t>
            </a:r>
            <a:endParaRPr lang="en-US" dirty="0" smtClean="0"/>
          </a:p>
          <a:p>
            <a:r>
              <a:rPr lang="en-US" dirty="0" smtClean="0"/>
              <a:t>Predict </a:t>
            </a:r>
            <a:r>
              <a:rPr lang="en-US" dirty="0" smtClean="0"/>
              <a:t>whether </a:t>
            </a:r>
            <a:r>
              <a:rPr lang="en-US" dirty="0" smtClean="0"/>
              <a:t>an individual earns </a:t>
            </a:r>
            <a:r>
              <a:rPr lang="en-US" dirty="0" smtClean="0"/>
              <a:t>&gt;50k or &lt;=50k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4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Understanding Dataset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dataset was extracted from 1994 census database and  authored by Ronny </a:t>
            </a:r>
            <a:r>
              <a:rPr lang="en-US" dirty="0" err="1" smtClean="0"/>
              <a:t>Kohavi</a:t>
            </a:r>
            <a:r>
              <a:rPr lang="en-US" dirty="0" smtClean="0"/>
              <a:t> and Barry Becker.</a:t>
            </a:r>
          </a:p>
          <a:p>
            <a:r>
              <a:rPr lang="en-US" dirty="0" smtClean="0"/>
              <a:t> Contains 32561 records with 15 features.</a:t>
            </a:r>
          </a:p>
          <a:p>
            <a:r>
              <a:rPr lang="en-US" dirty="0" smtClean="0"/>
              <a:t>Raw data showed no missing values but ‘?’ was present in some columns, it was replaced with NA.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33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Descriptive summary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 age was 38.58, with the oldest </a:t>
            </a:r>
            <a:r>
              <a:rPr lang="en-US" dirty="0" smtClean="0"/>
              <a:t>person aged </a:t>
            </a:r>
            <a:r>
              <a:rPr lang="en-US" dirty="0"/>
              <a:t>90 </a:t>
            </a:r>
            <a:r>
              <a:rPr lang="en-US" dirty="0" smtClean="0"/>
              <a:t>years </a:t>
            </a:r>
            <a:r>
              <a:rPr lang="en-US" dirty="0"/>
              <a:t>and youngest </a:t>
            </a:r>
            <a:r>
              <a:rPr lang="en-US" dirty="0" smtClean="0"/>
              <a:t>17. </a:t>
            </a:r>
          </a:p>
          <a:p>
            <a:r>
              <a:rPr lang="en-US" dirty="0" smtClean="0"/>
              <a:t>Maximum </a:t>
            </a:r>
            <a:r>
              <a:rPr lang="en-US" dirty="0"/>
              <a:t>capital loss for the sample was 4356, least capital loss </a:t>
            </a:r>
            <a:r>
              <a:rPr lang="en-US" dirty="0" smtClean="0"/>
              <a:t>was </a:t>
            </a:r>
            <a:r>
              <a:rPr lang="en-US" dirty="0"/>
              <a:t>0 and mean loss </a:t>
            </a:r>
            <a:r>
              <a:rPr lang="en-US" dirty="0" smtClean="0"/>
              <a:t>was 87.30</a:t>
            </a:r>
            <a:r>
              <a:rPr lang="en-US" dirty="0"/>
              <a:t>. </a:t>
            </a:r>
          </a:p>
          <a:p>
            <a:r>
              <a:rPr lang="en-US" dirty="0"/>
              <a:t>Half of </a:t>
            </a:r>
            <a:r>
              <a:rPr lang="en-US" dirty="0" smtClean="0"/>
              <a:t>the sample size </a:t>
            </a:r>
            <a:r>
              <a:rPr lang="en-US" dirty="0"/>
              <a:t>work on average 40 hours per week, 25% working 45 hours per week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12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Age Distribution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0" y="685800"/>
            <a:ext cx="2667000" cy="3886200"/>
          </a:xfrm>
        </p:spPr>
        <p:txBody>
          <a:bodyPr>
            <a:normAutofit/>
          </a:bodyPr>
          <a:lstStyle/>
          <a:p>
            <a:r>
              <a:rPr lang="en-US" dirty="0" smtClean="0"/>
              <a:t>Age </a:t>
            </a:r>
            <a:r>
              <a:rPr lang="en-US" dirty="0"/>
              <a:t>is skewed to the left with large proportion </a:t>
            </a:r>
            <a:r>
              <a:rPr lang="en-US" dirty="0" smtClean="0"/>
              <a:t>in 30-45 </a:t>
            </a:r>
            <a:r>
              <a:rPr lang="en-US" dirty="0"/>
              <a:t>age bracket. </a:t>
            </a:r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508" y="1029143"/>
            <a:ext cx="4863492" cy="3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90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Work Hours per week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0" y="685800"/>
            <a:ext cx="2667000" cy="3886200"/>
          </a:xfrm>
        </p:spPr>
        <p:txBody>
          <a:bodyPr>
            <a:normAutofit/>
          </a:bodyPr>
          <a:lstStyle/>
          <a:p>
            <a:r>
              <a:rPr lang="en-US" dirty="0" smtClean="0"/>
              <a:t>Largest proportion from </a:t>
            </a:r>
            <a:r>
              <a:rPr lang="en-US" dirty="0" smtClean="0"/>
              <a:t>the sample </a:t>
            </a:r>
            <a:r>
              <a:rPr lang="en-US" dirty="0"/>
              <a:t>work 40 hours per week. Followed by those working 60 hours per week. </a:t>
            </a:r>
          </a:p>
          <a:p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508" y="1204968"/>
            <a:ext cx="4863492" cy="336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27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Education </a:t>
            </a:r>
            <a:r>
              <a:rPr lang="en-US" dirty="0" smtClean="0"/>
              <a:t>Years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0" y="685800"/>
            <a:ext cx="3518510" cy="3886200"/>
          </a:xfrm>
        </p:spPr>
        <p:txBody>
          <a:bodyPr>
            <a:normAutofit/>
          </a:bodyPr>
          <a:lstStyle/>
          <a:p>
            <a:r>
              <a:rPr lang="en-US" dirty="0"/>
              <a:t>Largest proportion spent </a:t>
            </a:r>
            <a:r>
              <a:rPr lang="en-US" dirty="0" smtClean="0"/>
              <a:t>10-12 </a:t>
            </a:r>
            <a:r>
              <a:rPr lang="en-US" dirty="0"/>
              <a:t>years </a:t>
            </a:r>
            <a:r>
              <a:rPr lang="en-US" dirty="0" smtClean="0"/>
              <a:t>on education, that is either high school grad to college or a bachelors degree level.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626" y="1204968"/>
            <a:ext cx="4863490" cy="336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69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Age Groups v.s Income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0" y="685800"/>
            <a:ext cx="3518510" cy="3886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Large proportion in </a:t>
            </a:r>
            <a:r>
              <a:rPr lang="en-US" dirty="0"/>
              <a:t>16-24 age </a:t>
            </a:r>
            <a:r>
              <a:rPr lang="en-US" dirty="0" smtClean="0"/>
              <a:t>bracket </a:t>
            </a:r>
            <a:r>
              <a:rPr lang="en-US" dirty="0"/>
              <a:t>earn &lt;=50k. </a:t>
            </a:r>
          </a:p>
          <a:p>
            <a:r>
              <a:rPr lang="en-US" dirty="0"/>
              <a:t>The number of people earning &gt;50k increases with age and shows a declining trend after 65 years. </a:t>
            </a:r>
            <a:endParaRPr lang="en-US" dirty="0" smtClean="0"/>
          </a:p>
          <a:p>
            <a:r>
              <a:rPr lang="en-US" dirty="0"/>
              <a:t>A</a:t>
            </a:r>
            <a:r>
              <a:rPr lang="en-US" dirty="0" smtClean="0"/>
              <a:t>ge was </a:t>
            </a:r>
            <a:r>
              <a:rPr lang="en-US" dirty="0"/>
              <a:t>a </a:t>
            </a:r>
            <a:r>
              <a:rPr lang="en-US" dirty="0" smtClean="0"/>
              <a:t>good predictor </a:t>
            </a:r>
            <a:r>
              <a:rPr lang="en-US" dirty="0"/>
              <a:t>for </a:t>
            </a:r>
            <a:r>
              <a:rPr lang="en-US" dirty="0" smtClean="0"/>
              <a:t>income.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204968"/>
            <a:ext cx="4572000" cy="336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44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Work hours  v.s Income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0" y="685800"/>
            <a:ext cx="3518510" cy="3886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 the number of working hours increases the gap between those earning &gt;50 and less decreases. This </a:t>
            </a:r>
            <a:r>
              <a:rPr lang="en-US" dirty="0" smtClean="0"/>
              <a:t>implies work </a:t>
            </a:r>
            <a:r>
              <a:rPr lang="en-US" dirty="0"/>
              <a:t>hours affect income. </a:t>
            </a:r>
            <a:endParaRPr lang="en-US" dirty="0" smtClean="0"/>
          </a:p>
          <a:p>
            <a:r>
              <a:rPr lang="en-US" dirty="0" smtClean="0"/>
              <a:t>40-59 hours had highest correlation of 0.40 to income followed by 60-79 hours at 0.37.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204968"/>
            <a:ext cx="4495800" cy="336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421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Education </a:t>
            </a:r>
            <a:r>
              <a:rPr lang="en-US" dirty="0" smtClean="0"/>
              <a:t>Level</a:t>
            </a:r>
            <a:r>
              <a:rPr lang="en-US" dirty="0" smtClean="0"/>
              <a:t>  </a:t>
            </a:r>
            <a:r>
              <a:rPr lang="en-US" dirty="0" smtClean="0"/>
              <a:t>v.s Income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0" y="685800"/>
            <a:ext cx="3518510" cy="38862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Grouping education years: 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 smtClean="0"/>
              <a:t>Basic= 1-9 years 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 smtClean="0"/>
              <a:t>Tertiary 10-12 years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 smtClean="0"/>
              <a:t>Specialized 13-16 years </a:t>
            </a:r>
          </a:p>
          <a:p>
            <a:r>
              <a:rPr lang="en-US" dirty="0" smtClean="0"/>
              <a:t>Large proportion with </a:t>
            </a:r>
            <a:r>
              <a:rPr lang="en-US" dirty="0" smtClean="0"/>
              <a:t>basic level education earn &lt;=50k</a:t>
            </a:r>
          </a:p>
          <a:p>
            <a:r>
              <a:rPr lang="en-US" dirty="0" smtClean="0"/>
              <a:t>Largest proportion in specialized level earn &gt;50k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685800"/>
            <a:ext cx="47244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960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Sex  v.s Income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0" y="685800"/>
            <a:ext cx="3518510" cy="3886200"/>
          </a:xfrm>
        </p:spPr>
        <p:txBody>
          <a:bodyPr>
            <a:normAutofit/>
          </a:bodyPr>
          <a:lstStyle/>
          <a:p>
            <a:r>
              <a:rPr lang="en-US" dirty="0"/>
              <a:t>In the female category </a:t>
            </a:r>
            <a:r>
              <a:rPr lang="en-US" dirty="0" smtClean="0"/>
              <a:t>few </a:t>
            </a:r>
            <a:r>
              <a:rPr lang="en-US" dirty="0"/>
              <a:t>earn &gt;50. </a:t>
            </a:r>
            <a:endParaRPr lang="en-US" dirty="0" smtClean="0"/>
          </a:p>
          <a:p>
            <a:r>
              <a:rPr lang="en-US" dirty="0" smtClean="0"/>
              <a:t>Male had highest </a:t>
            </a:r>
            <a:r>
              <a:rPr lang="en-US" dirty="0"/>
              <a:t>positive </a:t>
            </a:r>
            <a:r>
              <a:rPr lang="en-US" dirty="0" smtClean="0"/>
              <a:t>correlation(0.3)  </a:t>
            </a:r>
            <a:r>
              <a:rPr lang="en-US" dirty="0"/>
              <a:t>to earning &gt;50k compared to their counterparts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337" y="685800"/>
            <a:ext cx="4451663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529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Race  v.s Income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0" y="685800"/>
            <a:ext cx="3518510" cy="3886200"/>
          </a:xfrm>
        </p:spPr>
        <p:txBody>
          <a:bodyPr>
            <a:normAutofit/>
          </a:bodyPr>
          <a:lstStyle/>
          <a:p>
            <a:r>
              <a:rPr lang="en-US" dirty="0" smtClean="0"/>
              <a:t>White and Black races contributed large proportions to data, the remaining categories were mapped to Other.</a:t>
            </a:r>
          </a:p>
          <a:p>
            <a:r>
              <a:rPr lang="en-US" dirty="0" smtClean="0"/>
              <a:t>White had high correlation of 0.25 while Black had the least positive correlation 0.12. 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819" y="685800"/>
            <a:ext cx="4849709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49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Workclass  v.s Income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0" y="685800"/>
            <a:ext cx="3518510" cy="3886200"/>
          </a:xfrm>
        </p:spPr>
        <p:txBody>
          <a:bodyPr>
            <a:normAutofit/>
          </a:bodyPr>
          <a:lstStyle/>
          <a:p>
            <a:r>
              <a:rPr lang="en-US" dirty="0"/>
              <a:t>It is evident there </a:t>
            </a:r>
            <a:r>
              <a:rPr lang="en-US" dirty="0" smtClean="0"/>
              <a:t>is a </a:t>
            </a:r>
            <a:r>
              <a:rPr lang="en-US" dirty="0" smtClean="0"/>
              <a:t>strong </a:t>
            </a:r>
            <a:r>
              <a:rPr lang="en-US" dirty="0"/>
              <a:t>relationship between workclass and income. Self-employed-</a:t>
            </a:r>
            <a:r>
              <a:rPr lang="en-US" dirty="0" err="1"/>
              <a:t>inc</a:t>
            </a:r>
            <a:r>
              <a:rPr lang="en-US" dirty="0"/>
              <a:t> people </a:t>
            </a:r>
            <a:r>
              <a:rPr lang="en-US" dirty="0" smtClean="0"/>
              <a:t>had </a:t>
            </a:r>
            <a:r>
              <a:rPr lang="en-US" dirty="0"/>
              <a:t>highest chance earning &gt;50k </a:t>
            </a:r>
            <a:r>
              <a:rPr lang="en-US" dirty="0" smtClean="0"/>
              <a:t>with </a:t>
            </a:r>
            <a:r>
              <a:rPr lang="en-US" dirty="0"/>
              <a:t>correlation &gt;0.5. </a:t>
            </a:r>
            <a:endParaRPr lang="en-US" dirty="0" smtClean="0"/>
          </a:p>
          <a:p>
            <a:r>
              <a:rPr lang="en-US" dirty="0" smtClean="0"/>
              <a:t>Workclass was a good predictor for our model.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911" y="685800"/>
            <a:ext cx="4711089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59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Marital Status  v.s Income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0" y="685800"/>
            <a:ext cx="3518510" cy="3886200"/>
          </a:xfrm>
        </p:spPr>
        <p:txBody>
          <a:bodyPr>
            <a:normAutofit/>
          </a:bodyPr>
          <a:lstStyle/>
          <a:p>
            <a:r>
              <a:rPr lang="en-US" dirty="0"/>
              <a:t>Never-married </a:t>
            </a:r>
            <a:r>
              <a:rPr lang="en-US" dirty="0" smtClean="0"/>
              <a:t>individuals had </a:t>
            </a:r>
            <a:r>
              <a:rPr lang="en-US" dirty="0" smtClean="0"/>
              <a:t>low</a:t>
            </a:r>
            <a:r>
              <a:rPr lang="en-US" dirty="0" smtClean="0"/>
              <a:t> </a:t>
            </a:r>
            <a:r>
              <a:rPr lang="en-US" dirty="0"/>
              <a:t>chance earning &gt;50k, while </a:t>
            </a:r>
            <a:r>
              <a:rPr lang="en-US" dirty="0" smtClean="0"/>
              <a:t>married-civ-spouse </a:t>
            </a:r>
            <a:r>
              <a:rPr lang="en-US" dirty="0"/>
              <a:t>had highest chance earning &gt;50k. </a:t>
            </a:r>
            <a:endParaRPr lang="en-US" dirty="0" smtClean="0"/>
          </a:p>
          <a:p>
            <a:r>
              <a:rPr lang="en-US" dirty="0" smtClean="0"/>
              <a:t>This was an </a:t>
            </a:r>
            <a:r>
              <a:rPr lang="en-US" dirty="0"/>
              <a:t>important variable to </a:t>
            </a:r>
            <a:r>
              <a:rPr lang="en-US" dirty="0" smtClean="0"/>
              <a:t>our </a:t>
            </a:r>
            <a:r>
              <a:rPr lang="en-US" dirty="0"/>
              <a:t>goal.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1" y="685800"/>
            <a:ext cx="4571999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773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568588"/>
            <a:ext cx="6781800" cy="1600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K-Nearest Neighbor Model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0" y="685800"/>
            <a:ext cx="3518510" cy="38862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Two evaluation metrics were applied on the final model</a:t>
            </a:r>
            <a:r>
              <a:rPr lang="en-US" dirty="0" smtClean="0"/>
              <a:t>. The model achieved </a:t>
            </a:r>
            <a:r>
              <a:rPr lang="en-US" dirty="0" smtClean="0"/>
              <a:t>81</a:t>
            </a:r>
            <a:r>
              <a:rPr lang="en-US" dirty="0"/>
              <a:t>% training </a:t>
            </a:r>
            <a:r>
              <a:rPr lang="en-US" dirty="0" smtClean="0"/>
              <a:t>accuracy score and 81.4% on unseen data. </a:t>
            </a:r>
          </a:p>
          <a:p>
            <a:r>
              <a:rPr lang="en-US" dirty="0" smtClean="0"/>
              <a:t>The AUC metric was used to measure model performance on unseen data as well. This value should range from 0-1, the higher the value the better the model. Our model did a good job predicting classes in target variable.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079" y="1275801"/>
            <a:ext cx="4571999" cy="329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042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568588"/>
            <a:ext cx="6781800" cy="1600200"/>
          </a:xfrm>
        </p:spPr>
        <p:txBody>
          <a:bodyPr>
            <a:normAutofit/>
          </a:bodyPr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0" y="685800"/>
            <a:ext cx="8305800" cy="3886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Converting continuous variables into categorical made </a:t>
            </a:r>
            <a:r>
              <a:rPr lang="en-US" dirty="0" smtClean="0"/>
              <a:t>work easier</a:t>
            </a:r>
            <a:r>
              <a:rPr lang="en-US" dirty="0" smtClean="0"/>
              <a:t> computing correlations and visualizing patterns. </a:t>
            </a:r>
          </a:p>
          <a:p>
            <a:r>
              <a:rPr lang="en-US" dirty="0" smtClean="0"/>
              <a:t>Label encoding for nominal categorical variables introduce bias in data, therefore one-hot-encoding is recommended for nominal categories as it eliminates bias and improves model performance. </a:t>
            </a:r>
          </a:p>
          <a:p>
            <a:r>
              <a:rPr lang="en-US" dirty="0"/>
              <a:t>Feature engineering improved model performance compared to K-nearest models trained on all the original variables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Cross validation is an important technique when selecting optimal value of k-neighbors, this ensures final model does not over-fit or under-fit data. </a:t>
            </a:r>
          </a:p>
          <a:p>
            <a:r>
              <a:rPr lang="en-US" dirty="0" smtClean="0"/>
              <a:t>Accuracy score should be used with other metrics like AUC to evaluate model performance. </a:t>
            </a:r>
          </a:p>
        </p:txBody>
      </p:sp>
    </p:spTree>
    <p:extLst>
      <p:ext uri="{BB962C8B-B14F-4D97-AF65-F5344CB8AC3E}">
        <p14:creationId xmlns:p14="http://schemas.microsoft.com/office/powerpoint/2010/main" val="25536708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558</TotalTime>
  <Words>633</Words>
  <Application>Microsoft Office PowerPoint</Application>
  <PresentationFormat>On-screen Show (4:3)</PresentationFormat>
  <Paragraphs>55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Impact</vt:lpstr>
      <vt:lpstr>Times New Roman</vt:lpstr>
      <vt:lpstr>NewsPrint</vt:lpstr>
      <vt:lpstr>Adult Income Analysis and Model</vt:lpstr>
      <vt:lpstr> Objectives</vt:lpstr>
      <vt:lpstr> Understanding Dataset</vt:lpstr>
      <vt:lpstr>Descriptive summary </vt:lpstr>
      <vt:lpstr>Age Distribution </vt:lpstr>
      <vt:lpstr>Work Hours per week </vt:lpstr>
      <vt:lpstr>Education Years</vt:lpstr>
      <vt:lpstr>Age Groups v.s Income</vt:lpstr>
      <vt:lpstr>Work hours  v.s Income</vt:lpstr>
      <vt:lpstr>Education Level  v.s Income</vt:lpstr>
      <vt:lpstr>Sex  v.s Income</vt:lpstr>
      <vt:lpstr>Race  v.s Income</vt:lpstr>
      <vt:lpstr>Workclass  v.s Income</vt:lpstr>
      <vt:lpstr>Marital Status  v.s Income</vt:lpstr>
      <vt:lpstr>K-Nearest Neighbor Model</vt:lpstr>
      <vt:lpstr>Conclusions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Ethical, Privacy, and Security Issues in the online Social Network Ecosystem</dc:title>
  <dc:creator>Akesi</dc:creator>
  <cp:lastModifiedBy>RONNY</cp:lastModifiedBy>
  <cp:revision>54</cp:revision>
  <dcterms:created xsi:type="dcterms:W3CDTF">2022-03-30T10:08:06Z</dcterms:created>
  <dcterms:modified xsi:type="dcterms:W3CDTF">2022-04-23T09:49:31Z</dcterms:modified>
</cp:coreProperties>
</file>